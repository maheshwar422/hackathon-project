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Crimson Pro" panose="020B0604020202020204" charset="0"/>
      <p:regular r:id="rId15"/>
    </p:embeddedFont>
    <p:embeddedFont>
      <p:font typeface="Heebo" panose="020F0502020204030204" pitchFamily="2" charset="-79"/>
      <p:regular r:id="rId16"/>
    </p:embeddedFont>
    <p:embeddedFont>
      <p:font typeface="Heebo Bold" panose="020B0604020202020204" charset="-79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CF94C-0095-2E5E-7707-4DD35A41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55E74F-57D7-9771-8199-CE63088F58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080F6-EE1D-23BB-6895-06C40038C4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DA2963-060E-BA53-194F-F09ED23ED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638FF0-758F-289A-46E6-5650E537E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5FF30-C2A2-4D90-E328-933C121CB4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E4782-F3EF-7BEA-6741-375A881AD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37879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hyperlink" Target="https://gamma.app/?utm_source=made-with-gamm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000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53B143C-B56D-C243-34A4-88DCCB24A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315186" y="887954"/>
            <a:ext cx="5186791" cy="8511092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6182" y="1783947"/>
            <a:ext cx="9452677" cy="182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Patient Sovereign Prescription Intelligence Network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6182" y="3906612"/>
            <a:ext cx="9452677" cy="62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9"/>
              </a:lnSpc>
            </a:pPr>
            <a:r>
              <a:rPr lang="en-US" sz="3276" b="1" dirty="0" err="1">
                <a:solidFill>
                  <a:srgbClr val="8A7F73"/>
                </a:solidFill>
                <a:latin typeface="Heebo Bold"/>
                <a:ea typeface="Heebo Bold"/>
                <a:cs typeface="Heebo Bold"/>
                <a:sym typeface="Heebo Bold"/>
              </a:rPr>
              <a:t>MathX</a:t>
            </a:r>
            <a:r>
              <a:rPr lang="en-US" sz="3276" b="1" dirty="0">
                <a:solidFill>
                  <a:srgbClr val="8A7F73"/>
                </a:solidFill>
                <a:latin typeface="Heebo Bold"/>
                <a:ea typeface="Heebo Bold"/>
                <a:cs typeface="Heebo Bold"/>
                <a:sym typeface="Heebo Bold"/>
              </a:rPr>
              <a:t> Innovation 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6182" y="6264221"/>
            <a:ext cx="9452677" cy="2254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376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TEAM MEMBERS: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dirty="0" err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Madihur</a:t>
            </a: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Rasool M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Lokesh Kumaar K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Maheshwar 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Shreesh </a:t>
            </a:r>
            <a:r>
              <a:rPr lang="en-US" sz="2176" dirty="0" err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Kirubanandhan</a:t>
            </a: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4653895"/>
            <a:ext cx="6523236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NAME:CHAIN BREAKERS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B6C5FED-C240-ED13-E8AE-9EAFF3B9A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506146" y="1081830"/>
            <a:ext cx="4881991" cy="81233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6182" y="2489645"/>
            <a:ext cx="9452677" cy="182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The Problem: Fragmented Prescription Chaos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6182" y="4659935"/>
            <a:ext cx="9452677" cy="3097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Scattered records across hospitals and clinics — no single source of truth.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Lost or forged paper prescriptions create dangerous gaps.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Doctors lack complete medication histories, so harmful interactions can go undetected.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Patients have no ownership over their own health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DF59B07-27F8-22D0-B3E7-11A3E917C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2413530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Why This Matters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986203"/>
            <a:ext cx="16315868" cy="38129"/>
            <a:chOff x="0" y="0"/>
            <a:chExt cx="21754490" cy="508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50800"/>
            </a:xfrm>
            <a:custGeom>
              <a:avLst/>
              <a:gdLst/>
              <a:ahLst/>
              <a:cxnLst/>
              <a:rect l="l" t="t" r="r" b="b"/>
              <a:pathLst>
                <a:path w="21754464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29064" y="0"/>
                  </a:lnTo>
                  <a:cubicBezTo>
                    <a:pt x="21743161" y="0"/>
                    <a:pt x="21754464" y="11430"/>
                    <a:pt x="21754464" y="25400"/>
                  </a:cubicBezTo>
                  <a:cubicBezTo>
                    <a:pt x="21754464" y="39497"/>
                    <a:pt x="21743034" y="50800"/>
                    <a:pt x="21729064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4C4C4D">
                <a:alpha val="2470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92991" y="4338218"/>
            <a:ext cx="16315868" cy="349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🚨</a:t>
            </a: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 Patient Safety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Undetected drug interactions, duplicate prescriptions, and prescription fraud put lives at risk every day.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💸</a:t>
            </a: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 Healthcare Costs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Redundant diagnostic tests, delayed treatments, and preventable errors drain billions from the system annually.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⚙️</a:t>
            </a: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 System Inefficiency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Poor continuity of care across providers creates cascading failures in treatment quality and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90F1769-2EEE-DAC3-3AFE-7E98BD187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1914716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Our Solution: A Patient-Centric Ecosystem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416494"/>
            <a:ext cx="16315868" cy="1134808"/>
            <a:chOff x="0" y="0"/>
            <a:chExt cx="21754490" cy="15130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1513078"/>
            </a:xfrm>
            <a:custGeom>
              <a:avLst/>
              <a:gdLst/>
              <a:ahLst/>
              <a:cxnLst/>
              <a:rect l="l" t="t" r="r" b="b"/>
              <a:pathLst>
                <a:path w="21754464" h="151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1456309"/>
                  </a:lnTo>
                  <a:cubicBezTo>
                    <a:pt x="21754464" y="1487678"/>
                    <a:pt x="21729064" y="1513078"/>
                    <a:pt x="21697696" y="1513078"/>
                  </a:cubicBezTo>
                  <a:lnTo>
                    <a:pt x="56769" y="1513078"/>
                  </a:lnTo>
                  <a:cubicBezTo>
                    <a:pt x="25400" y="1513078"/>
                    <a:pt x="0" y="1487678"/>
                    <a:pt x="0" y="1456309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76721" y="3818344"/>
            <a:ext cx="354625" cy="283740"/>
            <a:chOff x="0" y="0"/>
            <a:chExt cx="472834" cy="3783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4" r="-676" b="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915077" y="3694928"/>
            <a:ext cx="16025136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Patient-owned, secure, and easy to share when needed.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8219" y="4865722"/>
            <a:ext cx="16325393" cy="3471596"/>
            <a:chOff x="0" y="0"/>
            <a:chExt cx="21767190" cy="46287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67164" cy="4628769"/>
            </a:xfrm>
            <a:custGeom>
              <a:avLst/>
              <a:gdLst/>
              <a:ahLst/>
              <a:cxnLst/>
              <a:rect l="l" t="t" r="r" b="b"/>
              <a:pathLst>
                <a:path w="21767164" h="4628769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21710269" y="0"/>
                  </a:lnTo>
                  <a:cubicBezTo>
                    <a:pt x="21741637" y="0"/>
                    <a:pt x="21767164" y="25527"/>
                    <a:pt x="21767164" y="56896"/>
                  </a:cubicBezTo>
                  <a:lnTo>
                    <a:pt x="21767164" y="4571873"/>
                  </a:lnTo>
                  <a:cubicBezTo>
                    <a:pt x="21767164" y="4603242"/>
                    <a:pt x="21741637" y="4628769"/>
                    <a:pt x="21710269" y="4628769"/>
                  </a:cubicBezTo>
                  <a:lnTo>
                    <a:pt x="56896" y="4628769"/>
                  </a:lnTo>
                  <a:cubicBezTo>
                    <a:pt x="25527" y="4628769"/>
                    <a:pt x="0" y="4603242"/>
                    <a:pt x="0" y="4571873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1629" b="-41630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86256" y="4983594"/>
            <a:ext cx="758093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Patient-Owned Vault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Secure, transparent prescription storage with full patient ownership and audit trail.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4655" y="4983594"/>
            <a:ext cx="758093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AI Interaction Detection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Real-time drug interaction analysis and fraud prevention powered by intelligent AI.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6256" y="6705095"/>
            <a:ext cx="758093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Consent-Based Sharing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Cross-hospital interoperability with QR and digital verification — patients control who sees what.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4655" y="6705095"/>
            <a:ext cx="758093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Smart Reminders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Automated medication reminders and refill workflows to close the loop on treatment adherence.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523C560-8C01-BAF5-F977-5C6CCD9AE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1600448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Platform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102216"/>
            <a:ext cx="16315868" cy="4317454"/>
            <a:chOff x="0" y="0"/>
            <a:chExt cx="21754490" cy="575660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1754464" cy="5756656"/>
            </a:xfrm>
            <a:custGeom>
              <a:avLst/>
              <a:gdLst/>
              <a:ahLst/>
              <a:cxnLst/>
              <a:rect l="l" t="t" r="r" b="b"/>
              <a:pathLst>
                <a:path w="21754464" h="5756656">
                  <a:moveTo>
                    <a:pt x="0" y="0"/>
                  </a:moveTo>
                  <a:lnTo>
                    <a:pt x="21754464" y="0"/>
                  </a:lnTo>
                  <a:lnTo>
                    <a:pt x="21754464" y="5756656"/>
                  </a:lnTo>
                  <a:lnTo>
                    <a:pt x="0" y="575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251424" y="4533452"/>
            <a:ext cx="2466337" cy="47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Doctor Portal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51424" y="5119735"/>
            <a:ext cx="2466337" cy="1069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Creates prescriptions securely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7673" y="4657106"/>
            <a:ext cx="2466337" cy="47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Secure Platform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77673" y="5243379"/>
            <a:ext cx="2466337" cy="71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Encrypts and stores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03912" y="4533452"/>
            <a:ext cx="2466337" cy="47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Patient App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03912" y="5119735"/>
            <a:ext cx="2466337" cy="71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Manages consent and records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30151" y="4657106"/>
            <a:ext cx="2466337" cy="47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Pharmacy Portal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30151" y="5243379"/>
            <a:ext cx="2466337" cy="71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Verifies scripts and detects fraud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72096" y="4533452"/>
            <a:ext cx="2466337" cy="91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Hospital Systems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72096" y="5561343"/>
            <a:ext cx="2466337" cy="71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Syncs for interoperability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991" y="7662662"/>
            <a:ext cx="1631586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flow moves from doctor to secure platform to patient, pharmacy, and hospital systems through one encrypted, consent-based backbone.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FC564CC-1206-A891-7111-EA56E78BC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2336235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Technical Stack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838004"/>
            <a:ext cx="16315868" cy="1134808"/>
            <a:chOff x="0" y="0"/>
            <a:chExt cx="21754490" cy="15130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1513078"/>
            </a:xfrm>
            <a:custGeom>
              <a:avLst/>
              <a:gdLst/>
              <a:ahLst/>
              <a:cxnLst/>
              <a:rect l="l" t="t" r="r" b="b"/>
              <a:pathLst>
                <a:path w="21754464" h="151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1456309"/>
                  </a:lnTo>
                  <a:cubicBezTo>
                    <a:pt x="21754464" y="1487678"/>
                    <a:pt x="21729064" y="1513078"/>
                    <a:pt x="21697696" y="1513078"/>
                  </a:cubicBezTo>
                  <a:lnTo>
                    <a:pt x="56769" y="1513078"/>
                  </a:lnTo>
                  <a:cubicBezTo>
                    <a:pt x="25400" y="1513078"/>
                    <a:pt x="0" y="1487678"/>
                    <a:pt x="0" y="1456309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76721" y="4239854"/>
            <a:ext cx="354625" cy="283740"/>
            <a:chOff x="0" y="0"/>
            <a:chExt cx="472834" cy="3783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4" r="-676" b="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915077" y="4116438"/>
            <a:ext cx="16025136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Simple, secure, and built for interoperability.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3922" y="5272935"/>
            <a:ext cx="3904183" cy="2657313"/>
            <a:chOff x="0" y="0"/>
            <a:chExt cx="5205578" cy="35430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05476" cy="3543046"/>
            </a:xfrm>
            <a:custGeom>
              <a:avLst/>
              <a:gdLst/>
              <a:ahLst/>
              <a:cxnLst/>
              <a:rect l="l" t="t" r="r" b="b"/>
              <a:pathLst>
                <a:path w="5205476" h="3543046">
                  <a:moveTo>
                    <a:pt x="0" y="57531"/>
                  </a:moveTo>
                  <a:cubicBezTo>
                    <a:pt x="0" y="25781"/>
                    <a:pt x="25781" y="0"/>
                    <a:pt x="57531" y="0"/>
                  </a:cubicBezTo>
                  <a:lnTo>
                    <a:pt x="5147945" y="0"/>
                  </a:lnTo>
                  <a:cubicBezTo>
                    <a:pt x="5179695" y="0"/>
                    <a:pt x="5205476" y="25781"/>
                    <a:pt x="5205476" y="57531"/>
                  </a:cubicBezTo>
                  <a:lnTo>
                    <a:pt x="5205476" y="3485515"/>
                  </a:lnTo>
                  <a:cubicBezTo>
                    <a:pt x="5205476" y="3517265"/>
                    <a:pt x="5179695" y="3543046"/>
                    <a:pt x="5147945" y="3543046"/>
                  </a:cubicBezTo>
                  <a:lnTo>
                    <a:pt x="57531" y="3543046"/>
                  </a:lnTo>
                  <a:cubicBezTo>
                    <a:pt x="25781" y="3543046"/>
                    <a:pt x="0" y="3517265"/>
                    <a:pt x="0" y="3485515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314850" y="5585289"/>
            <a:ext cx="3222336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Frontend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4850" y="6151169"/>
            <a:ext cx="3222336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React &amp; Flutter for web and mobile access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123717" y="5272935"/>
            <a:ext cx="3904336" cy="2657313"/>
            <a:chOff x="0" y="0"/>
            <a:chExt cx="5205781" cy="35430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05730" cy="3543046"/>
            </a:xfrm>
            <a:custGeom>
              <a:avLst/>
              <a:gdLst/>
              <a:ahLst/>
              <a:cxnLst/>
              <a:rect l="l" t="t" r="r" b="b"/>
              <a:pathLst>
                <a:path w="5205730" h="3543046">
                  <a:moveTo>
                    <a:pt x="0" y="57531"/>
                  </a:moveTo>
                  <a:cubicBezTo>
                    <a:pt x="0" y="25781"/>
                    <a:pt x="25781" y="0"/>
                    <a:pt x="57531" y="0"/>
                  </a:cubicBezTo>
                  <a:lnTo>
                    <a:pt x="5148199" y="0"/>
                  </a:lnTo>
                  <a:cubicBezTo>
                    <a:pt x="5179949" y="0"/>
                    <a:pt x="5205730" y="25781"/>
                    <a:pt x="5205730" y="57531"/>
                  </a:cubicBezTo>
                  <a:lnTo>
                    <a:pt x="5205730" y="3485515"/>
                  </a:lnTo>
                  <a:cubicBezTo>
                    <a:pt x="5205730" y="3517265"/>
                    <a:pt x="5179949" y="3543046"/>
                    <a:pt x="5148199" y="3543046"/>
                  </a:cubicBezTo>
                  <a:lnTo>
                    <a:pt x="57531" y="3543046"/>
                  </a:lnTo>
                  <a:cubicBezTo>
                    <a:pt x="25781" y="3543046"/>
                    <a:pt x="0" y="3517265"/>
                    <a:pt x="0" y="3485515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5464635" y="5585289"/>
            <a:ext cx="3222479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Backend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64635" y="6151169"/>
            <a:ext cx="3222479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Node.js / FastAPI for secure APIs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73645" y="5272935"/>
            <a:ext cx="3904336" cy="2657313"/>
            <a:chOff x="0" y="0"/>
            <a:chExt cx="5205781" cy="35430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05730" cy="3543046"/>
            </a:xfrm>
            <a:custGeom>
              <a:avLst/>
              <a:gdLst/>
              <a:ahLst/>
              <a:cxnLst/>
              <a:rect l="l" t="t" r="r" b="b"/>
              <a:pathLst>
                <a:path w="5205730" h="3543046">
                  <a:moveTo>
                    <a:pt x="0" y="57531"/>
                  </a:moveTo>
                  <a:cubicBezTo>
                    <a:pt x="0" y="25781"/>
                    <a:pt x="25781" y="0"/>
                    <a:pt x="57531" y="0"/>
                  </a:cubicBezTo>
                  <a:lnTo>
                    <a:pt x="5148199" y="0"/>
                  </a:lnTo>
                  <a:cubicBezTo>
                    <a:pt x="5179949" y="0"/>
                    <a:pt x="5205730" y="25781"/>
                    <a:pt x="5205730" y="57531"/>
                  </a:cubicBezTo>
                  <a:lnTo>
                    <a:pt x="5205730" y="3485515"/>
                  </a:lnTo>
                  <a:cubicBezTo>
                    <a:pt x="5205730" y="3517265"/>
                    <a:pt x="5179949" y="3543046"/>
                    <a:pt x="5148199" y="3543046"/>
                  </a:cubicBezTo>
                  <a:lnTo>
                    <a:pt x="57531" y="3543046"/>
                  </a:lnTo>
                  <a:cubicBezTo>
                    <a:pt x="25781" y="3543046"/>
                    <a:pt x="0" y="3517265"/>
                    <a:pt x="0" y="3485515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614573" y="5585289"/>
            <a:ext cx="3222479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Database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14573" y="6151169"/>
            <a:ext cx="3222479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PostgreSQL with encryption at rest and in transit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23582" y="5272935"/>
            <a:ext cx="3904336" cy="2657313"/>
            <a:chOff x="0" y="0"/>
            <a:chExt cx="5205781" cy="35430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05730" cy="3543046"/>
            </a:xfrm>
            <a:custGeom>
              <a:avLst/>
              <a:gdLst/>
              <a:ahLst/>
              <a:cxnLst/>
              <a:rect l="l" t="t" r="r" b="b"/>
              <a:pathLst>
                <a:path w="5205730" h="3543046">
                  <a:moveTo>
                    <a:pt x="0" y="57531"/>
                  </a:moveTo>
                  <a:cubicBezTo>
                    <a:pt x="0" y="25781"/>
                    <a:pt x="25781" y="0"/>
                    <a:pt x="57531" y="0"/>
                  </a:cubicBezTo>
                  <a:lnTo>
                    <a:pt x="5148199" y="0"/>
                  </a:lnTo>
                  <a:cubicBezTo>
                    <a:pt x="5179949" y="0"/>
                    <a:pt x="5205730" y="25781"/>
                    <a:pt x="5205730" y="57531"/>
                  </a:cubicBezTo>
                  <a:lnTo>
                    <a:pt x="5205730" y="3485515"/>
                  </a:lnTo>
                  <a:cubicBezTo>
                    <a:pt x="5205730" y="3517265"/>
                    <a:pt x="5179949" y="3543046"/>
                    <a:pt x="5148199" y="3543046"/>
                  </a:cubicBezTo>
                  <a:lnTo>
                    <a:pt x="57531" y="3543046"/>
                  </a:lnTo>
                  <a:cubicBezTo>
                    <a:pt x="25781" y="3543046"/>
                    <a:pt x="0" y="3517265"/>
                    <a:pt x="0" y="3485515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764511" y="5585289"/>
            <a:ext cx="3222479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Auth &amp; AI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64511" y="6151169"/>
            <a:ext cx="3222479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JWT, OAuth, MFA, and drug interaction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4AF11F-047A-89FC-8172-CE85591C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803577"/>
            <a:ext cx="16315868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Implementation 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1730883"/>
            <a:ext cx="11421075" cy="6424422"/>
            <a:chOff x="0" y="0"/>
            <a:chExt cx="15228100" cy="856589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5228063" cy="8565896"/>
            </a:xfrm>
            <a:custGeom>
              <a:avLst/>
              <a:gdLst/>
              <a:ahLst/>
              <a:cxnLst/>
              <a:rect l="l" t="t" r="r" b="b"/>
              <a:pathLst>
                <a:path w="15228063" h="8565896">
                  <a:moveTo>
                    <a:pt x="0" y="0"/>
                  </a:moveTo>
                  <a:lnTo>
                    <a:pt x="15228063" y="0"/>
                  </a:lnTo>
                  <a:lnTo>
                    <a:pt x="15228063" y="8565896"/>
                  </a:lnTo>
                  <a:lnTo>
                    <a:pt x="0" y="8565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" r="-3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92991" y="8283121"/>
            <a:ext cx="17230954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Each step supports secure, compliant, and traceable care from registration to follow-up.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6ED3B9-527A-14F1-CE4A-A66E2E123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3592582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Operational Feasibility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5018151"/>
            <a:ext cx="16315868" cy="163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Adoption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Intuitive mobile and web interfaces mean minimal training for doctors, pharmacists, and patients.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Integration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Built to work with existing hospital systems without a rip-and-replace approach.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Scalability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Cloud-native architecture can scale from regional to global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451CD6-DB76-0F78-EFC3-A8201FD71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2991" y="3108655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Risk Mitigation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4127868"/>
            <a:ext cx="1631586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Built for Trust at Every Layer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4949038"/>
            <a:ext cx="16315868" cy="2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Data Breach: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End-to-end encryption, MFA enforcement, and hardened secure APIs across all endpoints.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Unauthorized Access: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Consent-based sharing model with strict role-based access control.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AI Errors: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Doctor approval required before any final prescription is issued.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Downtime &amp; Inconsistency: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Cloud redundancy and FHIR-compliant data standards ensure continuity.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5D1DEE1-7FFF-8287-04E9-B6C0E9A0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76748" y="961263"/>
            <a:ext cx="5392741" cy="8364474"/>
            <a:chOff x="0" y="0"/>
            <a:chExt cx="9150922" cy="137267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991" y="1546231"/>
            <a:ext cx="9452677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Impact &amp; Future Vision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991" y="2829858"/>
            <a:ext cx="9452677" cy="400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Patients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Full ownership, improved safety, and seamless continuity of care across every provider.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Doctors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Complete medication histories, smarter decisions, and dramatically fewer prescription errors.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Pharmacies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Instant digital verification and AI-powered fraud prevention at the point of dispensing.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Healthcare System</a:t>
            </a: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True interoperability, reduced administrative burden, and a foundation of enhanced institutional trust.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8511" y="7397686"/>
            <a:ext cx="9027147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"Transforming fragmented prescription management into a secure, intelligent, patient-centric healthcare ecosystem."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991" y="7154694"/>
            <a:ext cx="38129" cy="1546346"/>
            <a:chOff x="0" y="0"/>
            <a:chExt cx="50838" cy="2061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2061718"/>
            </a:xfrm>
            <a:custGeom>
              <a:avLst/>
              <a:gdLst/>
              <a:ahLst/>
              <a:cxnLst/>
              <a:rect l="l" t="t" r="r" b="b"/>
              <a:pathLst>
                <a:path w="50800" h="206171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6318"/>
                  </a:lnTo>
                  <a:cubicBezTo>
                    <a:pt x="50800" y="2050415"/>
                    <a:pt x="39370" y="2061718"/>
                    <a:pt x="25400" y="2061718"/>
                  </a:cubicBezTo>
                  <a:cubicBezTo>
                    <a:pt x="11430" y="2061718"/>
                    <a:pt x="0" y="2050288"/>
                    <a:pt x="0" y="2036318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2AB51-F68B-6778-ABFF-712219F1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9483F67-0A9E-0083-5931-7E80C18A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-84840"/>
            <a:ext cx="18301810" cy="102950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88F9E7-A74D-D034-42D0-4BF3522ECE71}"/>
              </a:ext>
            </a:extLst>
          </p:cNvPr>
          <p:cNvSpPr/>
          <p:nvPr/>
        </p:nvSpPr>
        <p:spPr>
          <a:xfrm>
            <a:off x="2895600" y="2933700"/>
            <a:ext cx="12496800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0123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569</Words>
  <Application>Microsoft Office PowerPoint</Application>
  <PresentationFormat>Custom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Canva Sans Bold</vt:lpstr>
      <vt:lpstr>Calibri</vt:lpstr>
      <vt:lpstr>Arial</vt:lpstr>
      <vt:lpstr>Heebo</vt:lpstr>
      <vt:lpstr>Heebo Bold</vt:lpstr>
      <vt:lpstr>Crimson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Patient-Sovereign-Prescription-Intelligence-Network.pptx</dc:title>
  <cp:lastModifiedBy>Admin</cp:lastModifiedBy>
  <cp:revision>6</cp:revision>
  <dcterms:created xsi:type="dcterms:W3CDTF">2006-08-16T00:00:00Z</dcterms:created>
  <dcterms:modified xsi:type="dcterms:W3CDTF">2026-07-30T05:45:42Z</dcterms:modified>
  <dc:identifier>DAHQ1EwZhaM</dc:identifier>
</cp:coreProperties>
</file>